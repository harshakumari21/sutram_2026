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63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1024128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gdtuw-logo.473df1c6cbcd03a6b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841248" cy="841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71032" y="475488"/>
            <a:ext cx="1024128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se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566928"/>
            <a:ext cx="841248" cy="841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1737360"/>
            <a:ext cx="624535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tram_master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364" y="1874519"/>
            <a:ext cx="40233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4528"/>
            <a:ext cx="62453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Trebuchet MS"/>
              </a:rPr>
              <a:t>SUTRAM HACKATHON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9544" y="5120640"/>
            <a:ext cx="1143000" cy="45720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340096"/>
            <a:ext cx="55504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DFF6"/>
                </a:solidFill>
                <a:latin typeface="Calibri"/>
              </a:rPr>
              <a:t>National Hackathon on AI-Powered Digital Investigation, Incident Response &amp; Cyber Forensics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0E0"/>
                </a:solidFill>
                <a:latin typeface="Trebuchet MS"/>
              </a:rPr>
              <a:t>ORGANISED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620256"/>
            <a:ext cx="6245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Indira Gandhi Delhi Technical University for Women (IGDTUW)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7040880"/>
            <a:ext cx="5824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DFF6"/>
                </a:solidFill>
                <a:latin typeface="Calibri"/>
              </a:rPr>
              <a:t>Under the Aegis of ISEA Project Phase-III, Ministry of Electronics and Information Technology (MeitY), Government of India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7717536"/>
            <a:ext cx="6245352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7717536"/>
            <a:ext cx="6245352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799185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0E0"/>
                </a:solidFill>
                <a:latin typeface="Trebuchet MS"/>
              </a:rPr>
              <a:t>REGISTRATION &amp; PROPOSAL DEADLINE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8247888"/>
            <a:ext cx="374903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2060"/>
                </a:solidFill>
                <a:latin typeface="Trebuchet MS"/>
              </a:rPr>
              <a:t>15 September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8705088"/>
            <a:ext cx="3017520" cy="18288"/>
          </a:xfrm>
          <a:prstGeom prst="rect">
            <a:avLst/>
          </a:prstGeom>
          <a:solidFill>
            <a:srgbClr val="B8D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8851392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0E0"/>
                </a:solidFill>
                <a:latin typeface="Trebuchet MS"/>
              </a:rPr>
              <a:t>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9089136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2060"/>
                </a:solidFill>
                <a:latin typeface="Trebuchet MS"/>
              </a:rPr>
              <a:t>sutram.igdtuw.ac.in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2624" y="7973568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3441" y="8114385"/>
            <a:ext cx="332841" cy="332841"/>
          </a:xfrm>
          <a:prstGeom prst="rect">
            <a:avLst/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26637" y="8207581"/>
            <a:ext cx="146450" cy="14645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99124" y="8114385"/>
            <a:ext cx="332841" cy="332841"/>
          </a:xfrm>
          <a:prstGeom prst="rect">
            <a:avLst/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2320" y="8207581"/>
            <a:ext cx="146450" cy="14645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3441" y="8780068"/>
            <a:ext cx="332841" cy="332841"/>
          </a:xfrm>
          <a:prstGeom prst="rect">
            <a:avLst/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26637" y="8873264"/>
            <a:ext cx="146450" cy="14645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9326880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2060"/>
                </a:solidFill>
                <a:latin typeface="Trebuchet MS"/>
              </a:rPr>
              <a:t>REGISTER 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813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7562088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75488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402336"/>
            <a:ext cx="4233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ABOUT &amp; VISION</a:t>
            </a:r>
          </a:p>
        </p:txBody>
      </p:sp>
      <p:pic>
        <p:nvPicPr>
          <p:cNvPr id="7" name="Picture 6" descr="sutram_master_cle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57200"/>
            <a:ext cx="1133856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13848"/>
            <a:ext cx="7562088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213848"/>
            <a:ext cx="437174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DFF6"/>
                </a:solidFill>
                <a:latin typeface="Trebuchet MS"/>
              </a:rPr>
              <a:t>SUTRAM HACKATHON 2026  ·  IGDTUW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2138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ABOUT SUTRAM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2996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2453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The rise of cyber-financial frauds, deepfake-enabled crimes, social-media manipulation, online impersonation, digital extortion, and AI-generated content has created an urgent need for innovative, indigenous cyber-forensic technologies.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SUTRAM Hackathon 2026 provides a national platform for students and innovators to develop practical, home-grown solutions for real-world cyber-forensic and digital investigation challenges.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41648"/>
            <a:ext cx="6245352" cy="1444752"/>
          </a:xfrm>
          <a:prstGeom prst="roundRect">
            <a:avLst>
              <a:gd name="adj" fmla="val 4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041648"/>
            <a:ext cx="64008" cy="144475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61104"/>
            <a:ext cx="5678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35424"/>
            <a:ext cx="56784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2060"/>
                </a:solidFill>
                <a:latin typeface="Calibri"/>
              </a:rPr>
              <a:t>To encourage the development of innovative, indigenous and practical technology solutions that strengthen digital investigation, incident response and cyber forensics through Artificial Intelligence and emerging technologies.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60720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ORGANISING INSTITUTIONS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998464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6144768"/>
            <a:ext cx="6245352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6144768"/>
            <a:ext cx="6245352" cy="4114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6473952"/>
            <a:ext cx="658368" cy="6583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47088" y="6473952"/>
            <a:ext cx="4764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Trebuchet MS"/>
              </a:rPr>
              <a:t>IGDTUW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6784848"/>
            <a:ext cx="47640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Host institution empowering women in STEM and technical innovation.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7626096"/>
            <a:ext cx="6245352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7626096"/>
            <a:ext cx="6245352" cy="4114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7955279"/>
            <a:ext cx="658368" cy="6583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47088" y="7955279"/>
            <a:ext cx="4764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Trebuchet MS"/>
              </a:rPr>
              <a:t>ISEA Phase-III (MeitY)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7088" y="8266175"/>
            <a:ext cx="47640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Initiative aimed at generating skilled human resources and awareness in information security across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813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7562088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75488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402336"/>
            <a:ext cx="4233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OBJECTIVES &amp; WHY PARTICIPATE?</a:t>
            </a:r>
          </a:p>
        </p:txBody>
      </p:sp>
      <p:pic>
        <p:nvPicPr>
          <p:cNvPr id="7" name="Picture 6" descr="sutram_master_cle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57200"/>
            <a:ext cx="1133856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13848"/>
            <a:ext cx="7562088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213848"/>
            <a:ext cx="437174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DFF6"/>
                </a:solidFill>
                <a:latin typeface="Trebuchet MS"/>
              </a:rPr>
              <a:t>SUTRAM HACKATHON 2026  ·  IGDTUW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2138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CORE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2996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176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194560"/>
            <a:ext cx="5641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2060"/>
                </a:solidFill>
                <a:latin typeface="Trebuchet MS"/>
              </a:rPr>
              <a:t>Indigenous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450591"/>
            <a:ext cx="5641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Building home-grown forensic tools across the evidence lifecycle.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980944"/>
            <a:ext cx="5641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2060"/>
                </a:solidFill>
                <a:latin typeface="Trebuchet MS"/>
              </a:rPr>
              <a:t>Real-World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236975"/>
            <a:ext cx="5641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Tackling actual investigative challenges faced by agencies.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49039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767327"/>
            <a:ext cx="5641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2060"/>
                </a:solidFill>
                <a:latin typeface="Trebuchet MS"/>
              </a:rPr>
              <a:t>AI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023359"/>
            <a:ext cx="5641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Applying AI for evidence authentication, correlation, and attribution.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354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553712"/>
            <a:ext cx="5641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2060"/>
                </a:solidFill>
                <a:latin typeface="Trebuchet MS"/>
              </a:rPr>
              <a:t>Innovation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809744"/>
            <a:ext cx="5641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Transforming student ideas into mentored Proofs of Concept.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WHY PARTICIPATE?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907024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6053328"/>
            <a:ext cx="3031236" cy="1152144"/>
          </a:xfrm>
          <a:prstGeom prst="roundRect">
            <a:avLst>
              <a:gd name="adj" fmla="val 5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6053328"/>
            <a:ext cx="3031236" cy="4114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6254496"/>
            <a:ext cx="26289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₹2,50,000 Cash Prize 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6656832"/>
            <a:ext cx="26289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A2A"/>
                </a:solidFill>
                <a:latin typeface="Calibri"/>
              </a:rPr>
              <a:t>National recognition and rewards for top solutions.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72484" y="6053328"/>
            <a:ext cx="3031236" cy="1152144"/>
          </a:xfrm>
          <a:prstGeom prst="roundRect">
            <a:avLst>
              <a:gd name="adj" fmla="val 5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72484" y="6053328"/>
            <a:ext cx="3031236" cy="4114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1940" y="6254496"/>
            <a:ext cx="26289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Official Recognition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1940" y="6656832"/>
            <a:ext cx="26289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A2A"/>
                </a:solidFill>
                <a:latin typeface="Calibri"/>
              </a:rPr>
              <a:t>Certificates from IGDTUW &amp; MeitY (ISEA Phase-III).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7370064"/>
            <a:ext cx="3031236" cy="1152144"/>
          </a:xfrm>
          <a:prstGeom prst="roundRect">
            <a:avLst>
              <a:gd name="adj" fmla="val 5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7370064"/>
            <a:ext cx="3031236" cy="4114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7571232"/>
            <a:ext cx="26289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Expert Mentorship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7973568"/>
            <a:ext cx="26289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A2A"/>
                </a:solidFill>
                <a:latin typeface="Calibri"/>
              </a:rPr>
              <a:t>Direct guidance from leading academicians and industry leaders (Microsoft, Sedulity Groups).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72484" y="7370064"/>
            <a:ext cx="3031236" cy="1152144"/>
          </a:xfrm>
          <a:prstGeom prst="roundRect">
            <a:avLst>
              <a:gd name="adj" fmla="val 5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72484" y="7370064"/>
            <a:ext cx="3031236" cy="4114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91940" y="7571232"/>
            <a:ext cx="26289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Networking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1940" y="7973568"/>
            <a:ext cx="26289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A2A"/>
                </a:solidFill>
                <a:latin typeface="Calibri"/>
              </a:rPr>
              <a:t>Showcase your PoC to government stakeholders, security researchers, and industry leaders.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813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7562088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75488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402336"/>
            <a:ext cx="4233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CORE THEMES &amp; DOMAINS</a:t>
            </a:r>
          </a:p>
        </p:txBody>
      </p:sp>
      <p:pic>
        <p:nvPicPr>
          <p:cNvPr id="7" name="Picture 6" descr="sutram_master_cle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57200"/>
            <a:ext cx="1133856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13848"/>
            <a:ext cx="7562088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213848"/>
            <a:ext cx="437174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DFF6"/>
                </a:solidFill>
                <a:latin typeface="Trebuchet MS"/>
              </a:rPr>
              <a:t>SUTRAM HACKATHON 2026  ·  IGDTUW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2138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10512"/>
            <a:ext cx="6245352" cy="1426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810512"/>
            <a:ext cx="68580" cy="142646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2048256"/>
            <a:ext cx="658368" cy="274320"/>
          </a:xfrm>
          <a:prstGeom prst="roundRect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Trebuchet MS"/>
              </a:rPr>
              <a:t>THEME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029967"/>
            <a:ext cx="49103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AI-Assisted Mobile Evidence Intelligence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560320"/>
            <a:ext cx="56784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AI tools for triaging and analysing mobile device evidence (calls, messages, app history, media, geolocation) to speed up investigation.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64991"/>
            <a:ext cx="6245352" cy="1426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364991"/>
            <a:ext cx="68580" cy="142646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602735"/>
            <a:ext cx="658368" cy="274320"/>
          </a:xfrm>
          <a:prstGeom prst="roundRect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Trebuchet MS"/>
              </a:rPr>
              <a:t>THEME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584448"/>
            <a:ext cx="49103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Multimedia Evidence Authentication &amp; Deepfake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14800"/>
            <a:ext cx="56784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Frameworks to detect AI-generated/manipulated images, audio, and video while analysing content provenance and evidentiary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19472"/>
            <a:ext cx="6245352" cy="1426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919472"/>
            <a:ext cx="68580" cy="142646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" y="5157216"/>
            <a:ext cx="658368" cy="274320"/>
          </a:xfrm>
          <a:prstGeom prst="roundRect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Trebuchet MS"/>
              </a:rPr>
              <a:t>THEME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5138928"/>
            <a:ext cx="49103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Digital Evidence Correlation &amp; Crime Reconstruction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669280"/>
            <a:ext cx="56784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Intelligent engines that correlate multi-source data (mobile, CCTV, cloud, social media, financial logs) to reconstruct complex crime events.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6473952"/>
            <a:ext cx="6245352" cy="1426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6473952"/>
            <a:ext cx="68580" cy="142646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2688" y="6711696"/>
            <a:ext cx="658368" cy="274320"/>
          </a:xfrm>
          <a:prstGeom prst="roundRect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Trebuchet MS"/>
              </a:rPr>
              <a:t>THEME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6693408"/>
            <a:ext cx="49103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AI-Powered Cyber Fraud Investigation &amp; Attribution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7223760"/>
            <a:ext cx="56784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Targeted solutions for UPI fraud, mule accounts, SIM swapping, and phishing by linking victims, devices, and suspects.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8028431"/>
            <a:ext cx="6245352" cy="1426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8028431"/>
            <a:ext cx="68580" cy="142646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688" y="8266175"/>
            <a:ext cx="658368" cy="274320"/>
          </a:xfrm>
          <a:prstGeom prst="roundRect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Trebuchet MS"/>
              </a:rPr>
              <a:t>THEME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0784" y="8247888"/>
            <a:ext cx="49103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AI-Powered Digital Investigation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8778240"/>
            <a:ext cx="567842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Intelligent assistant systems that help investigators explore massive digital evidence pools, supporting reasoning and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813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7562088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75488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402336"/>
            <a:ext cx="4233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HACKATHON JOURNEY &amp; TIMELINE</a:t>
            </a:r>
          </a:p>
        </p:txBody>
      </p:sp>
      <p:pic>
        <p:nvPicPr>
          <p:cNvPr id="7" name="Picture 6" descr="sutram_master_cle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57200"/>
            <a:ext cx="1133856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13848"/>
            <a:ext cx="7562088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213848"/>
            <a:ext cx="437174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DFF6"/>
                </a:solidFill>
                <a:latin typeface="Trebuchet MS"/>
              </a:rPr>
              <a:t>SUTRAM HACKATHON 2026  ·  IGDTUW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2138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THE 6-STEP JOURNEY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2996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1762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" y="2523744"/>
            <a:ext cx="22860" cy="109728"/>
          </a:xfrm>
          <a:prstGeom prst="rect">
            <a:avLst/>
          </a:prstGeom>
          <a:solidFill>
            <a:srgbClr val="B8D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2176272"/>
            <a:ext cx="5715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Registration &amp; Idea Submission (PPT Template Submission)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334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2980944"/>
            <a:ext cx="22860" cy="109728"/>
          </a:xfrm>
          <a:prstGeom prst="rect">
            <a:avLst/>
          </a:prstGeom>
          <a:solidFill>
            <a:srgbClr val="B8D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2633472"/>
            <a:ext cx="5715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First Round Selection (Top 50 Teams Shortlisted)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906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3438144"/>
            <a:ext cx="22860" cy="109728"/>
          </a:xfrm>
          <a:prstGeom prst="rect">
            <a:avLst/>
          </a:prstGeom>
          <a:solidFill>
            <a:srgbClr val="B8D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19" y="3090672"/>
            <a:ext cx="5715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Expert Mentorship (Technical Guidance &amp; Refinement)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5478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" y="3895344"/>
            <a:ext cx="22860" cy="109728"/>
          </a:xfrm>
          <a:prstGeom prst="rect">
            <a:avLst/>
          </a:prstGeom>
          <a:solidFill>
            <a:srgbClr val="B8D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3547872"/>
            <a:ext cx="5715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PoC Development (Building Working Proof of Concept)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05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" y="4352544"/>
            <a:ext cx="22860" cy="109728"/>
          </a:xfrm>
          <a:prstGeom prst="rect">
            <a:avLst/>
          </a:prstGeom>
          <a:solidFill>
            <a:srgbClr val="B8D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19" y="4005072"/>
            <a:ext cx="5715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Final Selection (Top 25 Teams Advance)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622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4462272"/>
            <a:ext cx="5715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2A2A"/>
                </a:solidFill>
                <a:latin typeface="Calibri"/>
              </a:rPr>
              <a:t>Grand Finale at IGDTUW (On-Campus Presentation)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08406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IMPORTANT DATES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32180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468112"/>
            <a:ext cx="624535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468112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PHASE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5468112"/>
            <a:ext cx="3246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MILESTONE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12" y="5468112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833872"/>
            <a:ext cx="6245352" cy="402336"/>
          </a:xfrm>
          <a:prstGeom prst="rect">
            <a:avLst/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6225235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833872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0E0"/>
                </a:solidFill>
                <a:latin typeface="Trebuchet MS"/>
              </a:rPr>
              <a:t>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5833872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Registration &amp; Idea Submission Opens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2" y="5833872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7 September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236208"/>
            <a:ext cx="62453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6627571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93392" y="6236208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Registration Deadline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6236208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10 October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638544"/>
            <a:ext cx="62453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7029907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93392" y="6638544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Idea Submission Deadline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6638544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20 October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7040880"/>
            <a:ext cx="62453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7432243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93392" y="7040880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First Round Results (50 Teams)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7040880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31 October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7443216"/>
            <a:ext cx="6245352" cy="402336"/>
          </a:xfrm>
          <a:prstGeom prst="rect">
            <a:avLst/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7834579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7443216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0E0"/>
                </a:solidFill>
                <a:latin typeface="Trebuchet MS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93392" y="7443216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Problem Statement Release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9512" y="7443216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1 November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7845552"/>
            <a:ext cx="62453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8368" y="8236915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93392" y="7845552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Mentorship &amp; PoC Development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7845552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10–30 November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8247888"/>
            <a:ext cx="62453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" y="8639251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93392" y="8247888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Prototype / PPT Submission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8247888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5 December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8650224"/>
            <a:ext cx="6245352" cy="402336"/>
          </a:xfrm>
          <a:prstGeom prst="rect">
            <a:avLst/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8368" y="9041587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8650224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0E0"/>
                </a:solidFill>
                <a:latin typeface="Trebuchet MS"/>
              </a:rPr>
              <a:t>Phase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93392" y="8650224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Final 25 Teams Selected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8650224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15 December 2026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9052559"/>
            <a:ext cx="62453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9443923"/>
            <a:ext cx="6245352" cy="10972"/>
          </a:xfrm>
          <a:prstGeom prst="rect">
            <a:avLst/>
          </a:prstGeom>
          <a:solidFill>
            <a:srgbClr val="D9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93392" y="9052559"/>
            <a:ext cx="3246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A2A"/>
                </a:solidFill>
                <a:latin typeface="Calibri"/>
              </a:rPr>
              <a:t>Hackathon Finale (IGDTUW)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9052559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2060"/>
                </a:solidFill>
                <a:latin typeface="Trebuchet MS"/>
              </a:rPr>
              <a:t>28–29 December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813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7562088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75488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402336"/>
            <a:ext cx="4233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PRIZES, EVALUATION &amp; IDEA SUBMISSION</a:t>
            </a:r>
          </a:p>
        </p:txBody>
      </p:sp>
      <p:pic>
        <p:nvPicPr>
          <p:cNvPr id="7" name="Picture 6" descr="sutram_master_cle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57200"/>
            <a:ext cx="1133856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13848"/>
            <a:ext cx="7562088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213848"/>
            <a:ext cx="437174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DFF6"/>
                </a:solidFill>
                <a:latin typeface="Trebuchet MS"/>
              </a:rPr>
              <a:t>SUTRAM HACKATHON 2026  ·  IGDTUW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2138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PRIZE STRUCTURE (TOTAL POOL: ₹2,50,000)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2996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176272"/>
            <a:ext cx="1972056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76272"/>
            <a:ext cx="1972056" cy="822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450591"/>
            <a:ext cx="1642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2060"/>
                </a:solidFill>
                <a:latin typeface="Trebuchet MS"/>
              </a:rPr>
              <a:t>FIRST PRIZE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779776"/>
            <a:ext cx="17160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₹1,25,000 + Winner Certificate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5016" y="2176272"/>
            <a:ext cx="1972056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95016" y="2176272"/>
            <a:ext cx="1972056" cy="8229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9608" y="2450591"/>
            <a:ext cx="1642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SECOND PRIZE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3032" y="2779776"/>
            <a:ext cx="17160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₹75,000 + Runner-up Certificate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1664" y="2176272"/>
            <a:ext cx="1972056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1664" y="2176272"/>
            <a:ext cx="1972056" cy="822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6256" y="2450591"/>
            <a:ext cx="1642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2060"/>
                </a:solidFill>
                <a:latin typeface="Trebuchet MS"/>
              </a:rPr>
              <a:t>THIRD PRIZE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9680" y="2779776"/>
            <a:ext cx="17160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₹50,000 + 2nd Runner-up Certificate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22191"/>
            <a:ext cx="6245352" cy="420624"/>
          </a:xfrm>
          <a:prstGeom prst="roundRect">
            <a:avLst>
              <a:gd name="adj" fmla="val 6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822191"/>
            <a:ext cx="5806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2060"/>
                </a:solidFill>
                <a:latin typeface="Calibri"/>
              </a:rPr>
              <a:t>Participation certificates for all registered internal participants.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791456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EVALUATION CRITERIA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029200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5303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175504"/>
            <a:ext cx="27386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Problem understanding &amp; relevance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72484" y="53035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5092" y="5175504"/>
            <a:ext cx="27386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Innovation &amp; technical approach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155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687568"/>
            <a:ext cx="27386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Practical applicability &amp; PoC usefulness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72484" y="58155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5092" y="5687568"/>
            <a:ext cx="27386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Presentation &amp; live demonstration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5566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IDEA PPT GUIDELINES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669340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6839712"/>
            <a:ext cx="6245352" cy="1700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6839712"/>
            <a:ext cx="68580" cy="170078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2688" y="71048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7077455"/>
            <a:ext cx="5239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Maximum 10 slides using the official SUTRAM template.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" y="756208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" y="7534655"/>
            <a:ext cx="5239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Must include: Proposed Solution, Technical Approach, Feasibility, Impact, and References.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" y="801928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2" y="7991855"/>
            <a:ext cx="5239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2A2A"/>
                </a:solidFill>
                <a:latin typeface="Calibri"/>
              </a:rPr>
              <a:t>Final submission must be exported in PDF format.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813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81328"/>
            <a:ext cx="7562088" cy="50292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75488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402336"/>
            <a:ext cx="4233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LEADERSHIP, ORGANISERS &amp; MENTORS</a:t>
            </a:r>
          </a:p>
        </p:txBody>
      </p:sp>
      <p:pic>
        <p:nvPicPr>
          <p:cNvPr id="7" name="Picture 6" descr="sutram_master_clea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57200"/>
            <a:ext cx="1133856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13848"/>
            <a:ext cx="7562088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213848"/>
            <a:ext cx="437174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DFF6"/>
                </a:solidFill>
                <a:latin typeface="Trebuchet MS"/>
              </a:rPr>
              <a:t>SUTRAM HACKATHON 2026  ·  IGDTUW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2138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PATRON &amp; 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29967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176272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176272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Dr. Ranjana Jha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404872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Vice Chancellor, IGDTUW (Patron)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3340" y="2176272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6220" y="2176272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Prof. R. K. Singh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6220" y="2404872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Vice Chancellor, VBS Purvanchal University (Advisor)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926080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ORGANISING LEADERSHIP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63824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10128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310128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Dr. A. K. Mohapatra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538728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Head, Dept. of IT, IGDTUW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63340" y="3310128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6220" y="3310128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Dr. Sudhir Singh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6220" y="3538728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Asst. Professor, IGDTUW | Co-PI, ISEA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877056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77056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Prof. Vivekananda Jha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105656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Professor, CSE, IGDTUW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63340" y="3877056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46220" y="3877056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Dr. Arun Sharma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6220" y="4105656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Dean, Academic Affairs, IGDTUW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443984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443984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Dr. Brijesh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672584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Registrar, IGDTUW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193792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LOCAL ORGANISING COMMITTEE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431536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5577840"/>
            <a:ext cx="6245352" cy="841248"/>
          </a:xfrm>
          <a:prstGeom prst="roundRect">
            <a:avLst>
              <a:gd name="adj" fmla="val 4000"/>
            </a:avLst>
          </a:prstGeom>
          <a:solidFill>
            <a:srgbClr val="E6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577840"/>
            <a:ext cx="576986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2060"/>
                </a:solidFill>
                <a:latin typeface="Calibri"/>
              </a:rPr>
              <a:t>Dr. Bhawna Narwal  •  Dr. Gaurav Indra  •  Dr. Mohona Ghosh  •  Dr. Alongbar Wary  •  Dr. Shweta Jindal  •  Ms. Deepika Suhag  •  Dr. Anjum Rathee  •  Dr. Jyoti Shokeen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620256"/>
            <a:ext cx="6245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0E0"/>
                </a:solidFill>
                <a:latin typeface="Trebuchet MS"/>
              </a:rPr>
              <a:t>EMINENT MENTORS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858000"/>
            <a:ext cx="566928" cy="320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7004304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7004304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Prof. (Dr.) Parag H. Rughani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7232904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Dean, NFSU Gandhinagar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63340" y="7004304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46220" y="7004304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Mr. Anup Girdhar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6220" y="7232904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CEO, Sedulity Groups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7571231"/>
            <a:ext cx="50292" cy="475488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7" y="7571231"/>
            <a:ext cx="28209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2060"/>
                </a:solidFill>
                <a:latin typeface="Trebuchet MS"/>
              </a:rPr>
              <a:t>Mr. Deepak &amp; Ms. Priyanka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" y="7799831"/>
            <a:ext cx="28209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2A2A"/>
                </a:solidFill>
                <a:latin typeface="Calibri"/>
              </a:rPr>
              <a:t>Microsoft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1463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624535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tram_mast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44" y="795528"/>
            <a:ext cx="2414016" cy="1207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2212848"/>
            <a:ext cx="6245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0E0"/>
                </a:solidFill>
                <a:latin typeface="Trebuchet MS"/>
              </a:rPr>
              <a:t>GET IN TOUCH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8144" y="2578608"/>
            <a:ext cx="685800" cy="36576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834640"/>
            <a:ext cx="6245352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59436" cy="6035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4436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90E0"/>
                </a:solidFill>
                <a:latin typeface="Trebuchet MS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27248"/>
            <a:ext cx="5696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isea@igdtuw.ac.in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84448"/>
            <a:ext cx="6245352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584448"/>
            <a:ext cx="59436" cy="60350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694176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90E0"/>
                </a:solidFill>
                <a:latin typeface="Trebuchet MS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77056"/>
            <a:ext cx="56967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Trebuchet MS"/>
              </a:rPr>
              <a:t>sutram.igdtuw.ac.in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34256"/>
            <a:ext cx="624535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334256"/>
            <a:ext cx="59436" cy="786384"/>
          </a:xfrm>
          <a:prstGeom prst="rect">
            <a:avLst/>
          </a:prstGeom>
          <a:solidFill>
            <a:srgbClr val="009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443984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90E0"/>
                </a:solidFill>
                <a:latin typeface="Trebuchet MS"/>
              </a:rPr>
              <a:t>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626864"/>
            <a:ext cx="5696712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2060"/>
                </a:solidFill>
                <a:latin typeface="Trebuchet MS"/>
              </a:rPr>
              <a:t>Indira Gandhi Delhi Technical University for Women, Kashmere Gate, Delhi - 110006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42432"/>
            <a:ext cx="6245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0E0"/>
                </a:solidFill>
                <a:latin typeface="Trebuchet MS"/>
              </a:rPr>
              <a:t>SCAN TO REGISTER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5203" y="6163056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96488" y="6384340"/>
            <a:ext cx="523036" cy="523036"/>
          </a:xfrm>
          <a:prstGeom prst="rect">
            <a:avLst/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42939" y="6530791"/>
            <a:ext cx="230136" cy="2301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42562" y="6384340"/>
            <a:ext cx="523036" cy="523036"/>
          </a:xfrm>
          <a:prstGeom prst="rect">
            <a:avLst/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89012" y="6530791"/>
            <a:ext cx="230136" cy="2301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6488" y="7430414"/>
            <a:ext cx="523036" cy="523036"/>
          </a:xfrm>
          <a:prstGeom prst="rect">
            <a:avLst/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42939" y="7576864"/>
            <a:ext cx="230136" cy="2301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00884" y="8247888"/>
            <a:ext cx="2560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90E0"/>
                </a:solidFill>
                <a:latin typeface="Trebuchet MS"/>
              </a:rPr>
              <a:t>sutram.igdtuw.ac.in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8631936"/>
            <a:ext cx="6245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8759952"/>
            <a:ext cx="62453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0E0"/>
                </a:solidFill>
                <a:latin typeface="Trebuchet MS"/>
              </a:rPr>
              <a:t>DEADLINE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8997696"/>
            <a:ext cx="6245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2060"/>
                </a:solidFill>
                <a:latin typeface="Trebuchet MS"/>
              </a:rPr>
              <a:t>15 September 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9765792"/>
            <a:ext cx="749808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9838944"/>
            <a:ext cx="603504" cy="60350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062472" y="9765792"/>
            <a:ext cx="749808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9838944"/>
            <a:ext cx="603504" cy="6035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828800" y="9765792"/>
            <a:ext cx="390448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DFF6"/>
                </a:solidFill>
                <a:latin typeface="Calibri"/>
              </a:rPr>
              <a:t>Organised by IGDTUW  ·  Under the Aegis of ISEA Project Phase-III, MeitY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